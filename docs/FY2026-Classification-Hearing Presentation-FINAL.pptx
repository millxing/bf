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34"/>
  </p:notesMasterIdLst>
  <p:handoutMasterIdLst>
    <p:handoutMasterId r:id="rId35"/>
  </p:handoutMasterIdLst>
  <p:sldIdLst>
    <p:sldId id="257" r:id="rId2"/>
    <p:sldId id="367" r:id="rId3"/>
    <p:sldId id="366" r:id="rId4"/>
    <p:sldId id="256" r:id="rId5"/>
    <p:sldId id="265" r:id="rId6"/>
    <p:sldId id="266" r:id="rId7"/>
    <p:sldId id="322" r:id="rId8"/>
    <p:sldId id="271" r:id="rId9"/>
    <p:sldId id="272" r:id="rId10"/>
    <p:sldId id="328" r:id="rId11"/>
    <p:sldId id="307" r:id="rId12"/>
    <p:sldId id="276" r:id="rId13"/>
    <p:sldId id="277" r:id="rId14"/>
    <p:sldId id="330" r:id="rId15"/>
    <p:sldId id="352" r:id="rId16"/>
    <p:sldId id="415" r:id="rId17"/>
    <p:sldId id="416" r:id="rId18"/>
    <p:sldId id="417" r:id="rId19"/>
    <p:sldId id="357" r:id="rId20"/>
    <p:sldId id="349" r:id="rId21"/>
    <p:sldId id="386" r:id="rId22"/>
    <p:sldId id="387" r:id="rId23"/>
    <p:sldId id="388" r:id="rId24"/>
    <p:sldId id="430" r:id="rId25"/>
    <p:sldId id="427" r:id="rId26"/>
    <p:sldId id="332" r:id="rId27"/>
    <p:sldId id="350" r:id="rId28"/>
    <p:sldId id="441" r:id="rId29"/>
    <p:sldId id="369" r:id="rId30"/>
    <p:sldId id="418" r:id="rId31"/>
    <p:sldId id="425" r:id="rId32"/>
    <p:sldId id="375" r:id="rId33"/>
  </p:sldIdLst>
  <p:sldSz cx="9956800" cy="7467600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9195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839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47585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967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459748" algn="l" defTabSz="9839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951698" algn="l" defTabSz="9839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443647" algn="l" defTabSz="9839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935597" algn="l" defTabSz="9839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31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chid Belhocine" initials="RB" lastIdx="0" clrIdx="0">
    <p:extLst>
      <p:ext uri="{19B8F6BF-5375-455C-9EA6-DF929625EA0E}">
        <p15:presenceInfo xmlns:p15="http://schemas.microsoft.com/office/powerpoint/2012/main" userId="S-1-5-21-1442987788-793529812-332905427-12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99"/>
    <a:srgbClr val="008000"/>
    <a:srgbClr val="009900"/>
    <a:srgbClr val="FFFF99"/>
    <a:srgbClr val="0066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5268" autoAdjust="0"/>
  </p:normalViewPr>
  <p:slideViewPr>
    <p:cSldViewPr>
      <p:cViewPr varScale="1">
        <p:scale>
          <a:sx n="117" d="100"/>
          <a:sy n="117" d="100"/>
        </p:scale>
        <p:origin x="1760" y="176"/>
      </p:cViewPr>
      <p:guideLst>
        <p:guide orient="horz" pos="2352"/>
        <p:guide pos="31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8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9" y="0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t" anchorCtr="0" compatLnSpc="1">
            <a:prstTxWarp prst="textNoShape">
              <a:avLst/>
            </a:prstTxWarp>
          </a:bodyPr>
          <a:lstStyle>
            <a:lvl1pPr algn="l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621" y="0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t" anchorCtr="0" compatLnSpc="1">
            <a:prstTxWarp prst="textNoShape">
              <a:avLst/>
            </a:prstTxWarp>
          </a:bodyPr>
          <a:lstStyle>
            <a:lvl1pPr algn="r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9" y="9119173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b" anchorCtr="0" compatLnSpc="1">
            <a:prstTxWarp prst="textNoShape">
              <a:avLst/>
            </a:prstTxWarp>
          </a:bodyPr>
          <a:lstStyle>
            <a:lvl1pPr algn="l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5509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9" y="0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t" anchorCtr="0" compatLnSpc="1">
            <a:prstTxWarp prst="textNoShape">
              <a:avLst/>
            </a:prstTxWarp>
          </a:bodyPr>
          <a:lstStyle>
            <a:lvl1pPr algn="l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621" y="0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t" anchorCtr="0" compatLnSpc="1">
            <a:prstTxWarp prst="textNoShape">
              <a:avLst/>
            </a:prstTxWarp>
          </a:bodyPr>
          <a:lstStyle>
            <a:lvl1pPr algn="r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2198" y="4561264"/>
            <a:ext cx="5850835" cy="432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9" y="9119173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b" anchorCtr="0" compatLnSpc="1">
            <a:prstTxWarp prst="textNoShape">
              <a:avLst/>
            </a:prstTxWarp>
          </a:bodyPr>
          <a:lstStyle>
            <a:lvl1pPr algn="l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621" y="9119173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3" tIns="48142" rIns="96283" bIns="48142" numCol="1" anchor="b" anchorCtr="0" compatLnSpc="1">
            <a:prstTxWarp prst="textNoShape">
              <a:avLst/>
            </a:prstTxWarp>
          </a:bodyPr>
          <a:lstStyle>
            <a:lvl1pPr algn="r" defTabSz="962911">
              <a:defRPr sz="1100">
                <a:latin typeface="Arial" charset="0"/>
              </a:defRPr>
            </a:lvl1pPr>
          </a:lstStyle>
          <a:p>
            <a:pPr>
              <a:defRPr/>
            </a:pPr>
            <a:fld id="{480B31B1-8446-4E9E-9CFB-7FA8D45545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0533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eaLnBrk="0" fontAlgn="base" hangingPunct="0">
      <a:spcBef>
        <a:spcPct val="30000"/>
      </a:spcBef>
      <a:spcAft>
        <a:spcPct val="0"/>
      </a:spcAft>
      <a:defRPr sz="1291" kern="1200">
        <a:solidFill>
          <a:schemeClr val="tx1"/>
        </a:solidFill>
        <a:latin typeface="Arial" charset="0"/>
        <a:ea typeface="+mn-ea"/>
        <a:cs typeface="+mn-cs"/>
      </a:defRPr>
    </a:lvl1pPr>
    <a:lvl2pPr marL="491950" algn="l" rtl="0" eaLnBrk="0" fontAlgn="base" hangingPunct="0">
      <a:spcBef>
        <a:spcPct val="30000"/>
      </a:spcBef>
      <a:spcAft>
        <a:spcPct val="0"/>
      </a:spcAft>
      <a:defRPr sz="1291" kern="1200">
        <a:solidFill>
          <a:schemeClr val="tx1"/>
        </a:solidFill>
        <a:latin typeface="Arial" charset="0"/>
        <a:ea typeface="+mn-ea"/>
        <a:cs typeface="+mn-cs"/>
      </a:defRPr>
    </a:lvl2pPr>
    <a:lvl3pPr marL="983900" algn="l" rtl="0" eaLnBrk="0" fontAlgn="base" hangingPunct="0">
      <a:spcBef>
        <a:spcPct val="30000"/>
      </a:spcBef>
      <a:spcAft>
        <a:spcPct val="0"/>
      </a:spcAft>
      <a:defRPr sz="1291" kern="1200">
        <a:solidFill>
          <a:schemeClr val="tx1"/>
        </a:solidFill>
        <a:latin typeface="Arial" charset="0"/>
        <a:ea typeface="+mn-ea"/>
        <a:cs typeface="+mn-cs"/>
      </a:defRPr>
    </a:lvl3pPr>
    <a:lvl4pPr marL="1475850" algn="l" rtl="0" eaLnBrk="0" fontAlgn="base" hangingPunct="0">
      <a:spcBef>
        <a:spcPct val="30000"/>
      </a:spcBef>
      <a:spcAft>
        <a:spcPct val="0"/>
      </a:spcAft>
      <a:defRPr sz="1291" kern="1200">
        <a:solidFill>
          <a:schemeClr val="tx1"/>
        </a:solidFill>
        <a:latin typeface="Arial" charset="0"/>
        <a:ea typeface="+mn-ea"/>
        <a:cs typeface="+mn-cs"/>
      </a:defRPr>
    </a:lvl4pPr>
    <a:lvl5pPr marL="1967800" algn="l" rtl="0" eaLnBrk="0" fontAlgn="base" hangingPunct="0">
      <a:spcBef>
        <a:spcPct val="30000"/>
      </a:spcBef>
      <a:spcAft>
        <a:spcPct val="0"/>
      </a:spcAft>
      <a:defRPr sz="1291" kern="1200">
        <a:solidFill>
          <a:schemeClr val="tx1"/>
        </a:solidFill>
        <a:latin typeface="Arial" charset="0"/>
        <a:ea typeface="+mn-ea"/>
        <a:cs typeface="+mn-cs"/>
      </a:defRPr>
    </a:lvl5pPr>
    <a:lvl6pPr marL="2459748" algn="l" defTabSz="983900" rtl="0" eaLnBrk="1" latinLnBrk="0" hangingPunct="1">
      <a:defRPr sz="1291" kern="1200">
        <a:solidFill>
          <a:schemeClr val="tx1"/>
        </a:solidFill>
        <a:latin typeface="+mn-lt"/>
        <a:ea typeface="+mn-ea"/>
        <a:cs typeface="+mn-cs"/>
      </a:defRPr>
    </a:lvl6pPr>
    <a:lvl7pPr marL="2951698" algn="l" defTabSz="983900" rtl="0" eaLnBrk="1" latinLnBrk="0" hangingPunct="1">
      <a:defRPr sz="1291" kern="1200">
        <a:solidFill>
          <a:schemeClr val="tx1"/>
        </a:solidFill>
        <a:latin typeface="+mn-lt"/>
        <a:ea typeface="+mn-ea"/>
        <a:cs typeface="+mn-cs"/>
      </a:defRPr>
    </a:lvl7pPr>
    <a:lvl8pPr marL="3443647" algn="l" defTabSz="983900" rtl="0" eaLnBrk="1" latinLnBrk="0" hangingPunct="1">
      <a:defRPr sz="1291" kern="1200">
        <a:solidFill>
          <a:schemeClr val="tx1"/>
        </a:solidFill>
        <a:latin typeface="+mn-lt"/>
        <a:ea typeface="+mn-ea"/>
        <a:cs typeface="+mn-cs"/>
      </a:defRPr>
    </a:lvl8pPr>
    <a:lvl9pPr marL="3935597" algn="l" defTabSz="983900" rtl="0" eaLnBrk="1" latinLnBrk="0" hangingPunct="1">
      <a:defRPr sz="12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6C2C165-966F-4695-8627-6FB32FD7267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7452D856-5F26-4B73-A617-F7AD5C98B1C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625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95D07457-804C-40B1-8549-3D2ED2A86E3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09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95D07457-804C-40B1-8549-3D2ED2A86E3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938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95D07457-804C-40B1-8549-3D2ED2A86E3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640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760" y="2319800"/>
            <a:ext cx="8463280" cy="16006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520" y="4231642"/>
            <a:ext cx="6969760" cy="19083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B2324-77DB-4860-AE83-60ED9F175129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41E67-92A9-473F-8805-51643F01C0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0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A831A-78A5-4084-94CB-6B4746ABD33E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C91C1-DE5F-4A38-8A3B-77621F3A35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8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18" y="4798627"/>
            <a:ext cx="8463280" cy="1483148"/>
          </a:xfrm>
        </p:spPr>
        <p:txBody>
          <a:bodyPr anchor="t"/>
          <a:lstStyle>
            <a:lvl1pPr algn="l">
              <a:defRPr sz="435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518" y="3165090"/>
            <a:ext cx="8463280" cy="1633537"/>
          </a:xfrm>
        </p:spPr>
        <p:txBody>
          <a:bodyPr anchor="b"/>
          <a:lstStyle>
            <a:lvl1pPr marL="0" indent="0">
              <a:buNone/>
              <a:defRPr sz="2177">
                <a:solidFill>
                  <a:schemeClr val="tx1">
                    <a:tint val="75000"/>
                  </a:schemeClr>
                </a:solidFill>
              </a:defRPr>
            </a:lvl1pPr>
            <a:lvl2pPr marL="497862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2pPr>
            <a:lvl3pPr marL="995723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493587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4pPr>
            <a:lvl5pPr marL="1991448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5pPr>
            <a:lvl6pPr marL="2489310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6pPr>
            <a:lvl7pPr marL="2987171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7pPr>
            <a:lvl8pPr marL="3485035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8pPr>
            <a:lvl9pPr marL="3982897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97A38-9AC6-4B36-8D06-AB2EFCD0C821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4E382-D26B-413E-AB90-AD3164EB0D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2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7840" y="1742445"/>
            <a:ext cx="4397587" cy="4928271"/>
          </a:xfrm>
        </p:spPr>
        <p:txBody>
          <a:bodyPr/>
          <a:lstStyle>
            <a:lvl1pPr>
              <a:defRPr sz="3049"/>
            </a:lvl1pPr>
            <a:lvl2pPr>
              <a:defRPr sz="2613"/>
            </a:lvl2pPr>
            <a:lvl3pPr>
              <a:defRPr sz="2177"/>
            </a:lvl3pPr>
            <a:lvl4pPr>
              <a:defRPr sz="1960"/>
            </a:lvl4pPr>
            <a:lvl5pPr>
              <a:defRPr sz="1960"/>
            </a:lvl5pPr>
            <a:lvl6pPr>
              <a:defRPr sz="1960"/>
            </a:lvl6pPr>
            <a:lvl7pPr>
              <a:defRPr sz="1960"/>
            </a:lvl7pPr>
            <a:lvl8pPr>
              <a:defRPr sz="1960"/>
            </a:lvl8pPr>
            <a:lvl9pPr>
              <a:defRPr sz="1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1373" y="1742445"/>
            <a:ext cx="4397587" cy="4928271"/>
          </a:xfrm>
        </p:spPr>
        <p:txBody>
          <a:bodyPr/>
          <a:lstStyle>
            <a:lvl1pPr>
              <a:defRPr sz="3049"/>
            </a:lvl1pPr>
            <a:lvl2pPr>
              <a:defRPr sz="2613"/>
            </a:lvl2pPr>
            <a:lvl3pPr>
              <a:defRPr sz="2177"/>
            </a:lvl3pPr>
            <a:lvl4pPr>
              <a:defRPr sz="1960"/>
            </a:lvl4pPr>
            <a:lvl5pPr>
              <a:defRPr sz="1960"/>
            </a:lvl5pPr>
            <a:lvl6pPr>
              <a:defRPr sz="1960"/>
            </a:lvl6pPr>
            <a:lvl7pPr>
              <a:defRPr sz="1960"/>
            </a:lvl7pPr>
            <a:lvl8pPr>
              <a:defRPr sz="1960"/>
            </a:lvl8pPr>
            <a:lvl9pPr>
              <a:defRPr sz="1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18E25-2FD0-4E4D-B9DD-2CFAD16AF032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77169-7A71-4AC0-9918-5226890A55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42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840" y="1671567"/>
            <a:ext cx="4399316" cy="696630"/>
          </a:xfrm>
        </p:spPr>
        <p:txBody>
          <a:bodyPr anchor="b"/>
          <a:lstStyle>
            <a:lvl1pPr marL="0" indent="0">
              <a:buNone/>
              <a:defRPr sz="2613" b="1"/>
            </a:lvl1pPr>
            <a:lvl2pPr marL="497862" indent="0">
              <a:buNone/>
              <a:defRPr sz="2177" b="1"/>
            </a:lvl2pPr>
            <a:lvl3pPr marL="995723" indent="0">
              <a:buNone/>
              <a:defRPr sz="1960" b="1"/>
            </a:lvl3pPr>
            <a:lvl4pPr marL="1493587" indent="0">
              <a:buNone/>
              <a:defRPr sz="1743" b="1"/>
            </a:lvl4pPr>
            <a:lvl5pPr marL="1991448" indent="0">
              <a:buNone/>
              <a:defRPr sz="1743" b="1"/>
            </a:lvl5pPr>
            <a:lvl6pPr marL="2489310" indent="0">
              <a:buNone/>
              <a:defRPr sz="1743" b="1"/>
            </a:lvl6pPr>
            <a:lvl7pPr marL="2987171" indent="0">
              <a:buNone/>
              <a:defRPr sz="1743" b="1"/>
            </a:lvl7pPr>
            <a:lvl8pPr marL="3485035" indent="0">
              <a:buNone/>
              <a:defRPr sz="1743" b="1"/>
            </a:lvl8pPr>
            <a:lvl9pPr marL="3982897" indent="0">
              <a:buNone/>
              <a:defRPr sz="17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840" y="2368197"/>
            <a:ext cx="4399316" cy="4302514"/>
          </a:xfrm>
        </p:spPr>
        <p:txBody>
          <a:bodyPr/>
          <a:lstStyle>
            <a:lvl1pPr>
              <a:defRPr sz="2613"/>
            </a:lvl1pPr>
            <a:lvl2pPr>
              <a:defRPr sz="2177"/>
            </a:lvl2pPr>
            <a:lvl3pPr>
              <a:defRPr sz="1960"/>
            </a:lvl3pPr>
            <a:lvl4pPr>
              <a:defRPr sz="1743"/>
            </a:lvl4pPr>
            <a:lvl5pPr>
              <a:defRPr sz="1743"/>
            </a:lvl5pPr>
            <a:lvl6pPr>
              <a:defRPr sz="1743"/>
            </a:lvl6pPr>
            <a:lvl7pPr>
              <a:defRPr sz="1743"/>
            </a:lvl7pPr>
            <a:lvl8pPr>
              <a:defRPr sz="1743"/>
            </a:lvl8pPr>
            <a:lvl9pPr>
              <a:defRPr sz="17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7919" y="1671567"/>
            <a:ext cx="4401044" cy="696630"/>
          </a:xfrm>
        </p:spPr>
        <p:txBody>
          <a:bodyPr anchor="b"/>
          <a:lstStyle>
            <a:lvl1pPr marL="0" indent="0">
              <a:buNone/>
              <a:defRPr sz="2613" b="1"/>
            </a:lvl1pPr>
            <a:lvl2pPr marL="497862" indent="0">
              <a:buNone/>
              <a:defRPr sz="2177" b="1"/>
            </a:lvl2pPr>
            <a:lvl3pPr marL="995723" indent="0">
              <a:buNone/>
              <a:defRPr sz="1960" b="1"/>
            </a:lvl3pPr>
            <a:lvl4pPr marL="1493587" indent="0">
              <a:buNone/>
              <a:defRPr sz="1743" b="1"/>
            </a:lvl4pPr>
            <a:lvl5pPr marL="1991448" indent="0">
              <a:buNone/>
              <a:defRPr sz="1743" b="1"/>
            </a:lvl5pPr>
            <a:lvl6pPr marL="2489310" indent="0">
              <a:buNone/>
              <a:defRPr sz="1743" b="1"/>
            </a:lvl6pPr>
            <a:lvl7pPr marL="2987171" indent="0">
              <a:buNone/>
              <a:defRPr sz="1743" b="1"/>
            </a:lvl7pPr>
            <a:lvl8pPr marL="3485035" indent="0">
              <a:buNone/>
              <a:defRPr sz="1743" b="1"/>
            </a:lvl8pPr>
            <a:lvl9pPr marL="3982897" indent="0">
              <a:buNone/>
              <a:defRPr sz="17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7919" y="2368197"/>
            <a:ext cx="4401044" cy="4302514"/>
          </a:xfrm>
        </p:spPr>
        <p:txBody>
          <a:bodyPr/>
          <a:lstStyle>
            <a:lvl1pPr>
              <a:defRPr sz="2613"/>
            </a:lvl1pPr>
            <a:lvl2pPr>
              <a:defRPr sz="2177"/>
            </a:lvl2pPr>
            <a:lvl3pPr>
              <a:defRPr sz="1960"/>
            </a:lvl3pPr>
            <a:lvl4pPr>
              <a:defRPr sz="1743"/>
            </a:lvl4pPr>
            <a:lvl5pPr>
              <a:defRPr sz="1743"/>
            </a:lvl5pPr>
            <a:lvl6pPr>
              <a:defRPr sz="1743"/>
            </a:lvl6pPr>
            <a:lvl7pPr>
              <a:defRPr sz="1743"/>
            </a:lvl7pPr>
            <a:lvl8pPr>
              <a:defRPr sz="1743"/>
            </a:lvl8pPr>
            <a:lvl9pPr>
              <a:defRPr sz="17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B5711-1A01-4990-BE31-879DE408A940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478035-2134-448E-991B-5945190A33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03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4765D-A62D-441D-B34D-4A7185852161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89792-36E0-437F-BECB-4E5C9CE36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9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13392-7D1A-48FA-9861-7BAF001B9966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1B997-2725-4DCF-A93C-EBF55CC957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4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4" y="297322"/>
            <a:ext cx="3275718" cy="1265343"/>
          </a:xfrm>
        </p:spPr>
        <p:txBody>
          <a:bodyPr anchor="b"/>
          <a:lstStyle>
            <a:lvl1pPr algn="l">
              <a:defRPr sz="217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2834" y="297325"/>
            <a:ext cx="5566127" cy="6373390"/>
          </a:xfrm>
        </p:spPr>
        <p:txBody>
          <a:bodyPr/>
          <a:lstStyle>
            <a:lvl1pPr>
              <a:defRPr sz="3484"/>
            </a:lvl1pPr>
            <a:lvl2pPr>
              <a:defRPr sz="3049"/>
            </a:lvl2pPr>
            <a:lvl3pPr>
              <a:defRPr sz="2613"/>
            </a:lvl3pPr>
            <a:lvl4pPr>
              <a:defRPr sz="2177"/>
            </a:lvl4pPr>
            <a:lvl5pPr>
              <a:defRPr sz="2177"/>
            </a:lvl5pPr>
            <a:lvl6pPr>
              <a:defRPr sz="2177"/>
            </a:lvl6pPr>
            <a:lvl7pPr>
              <a:defRPr sz="2177"/>
            </a:lvl7pPr>
            <a:lvl8pPr>
              <a:defRPr sz="2177"/>
            </a:lvl8pPr>
            <a:lvl9pPr>
              <a:defRPr sz="21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844" y="1562667"/>
            <a:ext cx="3275718" cy="5108046"/>
          </a:xfrm>
        </p:spPr>
        <p:txBody>
          <a:bodyPr/>
          <a:lstStyle>
            <a:lvl1pPr marL="0" indent="0">
              <a:buNone/>
              <a:defRPr sz="1524"/>
            </a:lvl1pPr>
            <a:lvl2pPr marL="497862" indent="0">
              <a:buNone/>
              <a:defRPr sz="1308"/>
            </a:lvl2pPr>
            <a:lvl3pPr marL="995723" indent="0">
              <a:buNone/>
              <a:defRPr sz="1089"/>
            </a:lvl3pPr>
            <a:lvl4pPr marL="1493587" indent="0">
              <a:buNone/>
              <a:defRPr sz="980"/>
            </a:lvl4pPr>
            <a:lvl5pPr marL="1991448" indent="0">
              <a:buNone/>
              <a:defRPr sz="980"/>
            </a:lvl5pPr>
            <a:lvl6pPr marL="2489310" indent="0">
              <a:buNone/>
              <a:defRPr sz="980"/>
            </a:lvl6pPr>
            <a:lvl7pPr marL="2987171" indent="0">
              <a:buNone/>
              <a:defRPr sz="980"/>
            </a:lvl7pPr>
            <a:lvl8pPr marL="3485035" indent="0">
              <a:buNone/>
              <a:defRPr sz="980"/>
            </a:lvl8pPr>
            <a:lvl9pPr marL="3982897" indent="0">
              <a:buNone/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1E948-F1F0-4281-AE6E-6A0092CEE56D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E3817-EEE1-4D56-B9BB-841D875B05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0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603" y="5227322"/>
            <a:ext cx="5974080" cy="617115"/>
          </a:xfrm>
        </p:spPr>
        <p:txBody>
          <a:bodyPr anchor="b"/>
          <a:lstStyle>
            <a:lvl1pPr algn="l">
              <a:defRPr sz="217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51603" y="667244"/>
            <a:ext cx="5974080" cy="4480560"/>
          </a:xfrm>
        </p:spPr>
        <p:txBody>
          <a:bodyPr rtlCol="0">
            <a:normAutofit/>
          </a:bodyPr>
          <a:lstStyle>
            <a:lvl1pPr marL="0" indent="0">
              <a:buNone/>
              <a:defRPr sz="3484"/>
            </a:lvl1pPr>
            <a:lvl2pPr marL="497862" indent="0">
              <a:buNone/>
              <a:defRPr sz="3049"/>
            </a:lvl2pPr>
            <a:lvl3pPr marL="995723" indent="0">
              <a:buNone/>
              <a:defRPr sz="2613"/>
            </a:lvl3pPr>
            <a:lvl4pPr marL="1493587" indent="0">
              <a:buNone/>
              <a:defRPr sz="2177"/>
            </a:lvl4pPr>
            <a:lvl5pPr marL="1991448" indent="0">
              <a:buNone/>
              <a:defRPr sz="2177"/>
            </a:lvl5pPr>
            <a:lvl6pPr marL="2489310" indent="0">
              <a:buNone/>
              <a:defRPr sz="2177"/>
            </a:lvl6pPr>
            <a:lvl7pPr marL="2987171" indent="0">
              <a:buNone/>
              <a:defRPr sz="2177"/>
            </a:lvl7pPr>
            <a:lvl8pPr marL="3485035" indent="0">
              <a:buNone/>
              <a:defRPr sz="2177"/>
            </a:lvl8pPr>
            <a:lvl9pPr marL="3982897" indent="0">
              <a:buNone/>
              <a:defRPr sz="2177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1603" y="5844437"/>
            <a:ext cx="5974080" cy="876405"/>
          </a:xfrm>
        </p:spPr>
        <p:txBody>
          <a:bodyPr/>
          <a:lstStyle>
            <a:lvl1pPr marL="0" indent="0">
              <a:buNone/>
              <a:defRPr sz="1524"/>
            </a:lvl1pPr>
            <a:lvl2pPr marL="497862" indent="0">
              <a:buNone/>
              <a:defRPr sz="1308"/>
            </a:lvl2pPr>
            <a:lvl3pPr marL="995723" indent="0">
              <a:buNone/>
              <a:defRPr sz="1089"/>
            </a:lvl3pPr>
            <a:lvl4pPr marL="1493587" indent="0">
              <a:buNone/>
              <a:defRPr sz="980"/>
            </a:lvl4pPr>
            <a:lvl5pPr marL="1991448" indent="0">
              <a:buNone/>
              <a:defRPr sz="980"/>
            </a:lvl5pPr>
            <a:lvl6pPr marL="2489310" indent="0">
              <a:buNone/>
              <a:defRPr sz="980"/>
            </a:lvl6pPr>
            <a:lvl7pPr marL="2987171" indent="0">
              <a:buNone/>
              <a:defRPr sz="980"/>
            </a:lvl7pPr>
            <a:lvl8pPr marL="3485035" indent="0">
              <a:buNone/>
              <a:defRPr sz="980"/>
            </a:lvl8pPr>
            <a:lvl9pPr marL="3982897" indent="0">
              <a:buNone/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7E0CC-CEE9-43EE-A46F-6096E4933960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12D45-8D85-4549-9E66-A19A169829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AB76A-7B8A-442B-B6D8-D59C55D65E56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0F667-6882-4AF0-9E49-6CA23CE2B8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471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8680" y="299055"/>
            <a:ext cx="2240280" cy="6371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7840" y="299055"/>
            <a:ext cx="6554893" cy="63716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8E6DC-2F64-420E-9EDF-9E8FC7A073A0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D297B-1A78-43FA-9946-21AA10E7195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23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" y="299050"/>
            <a:ext cx="8961120" cy="1244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97840" y="1742445"/>
            <a:ext cx="8961120" cy="4928271"/>
          </a:xfrm>
        </p:spPr>
        <p:txBody>
          <a:bodyPr rtlCol="0">
            <a:normAutofit/>
          </a:bodyPr>
          <a:lstStyle/>
          <a:p>
            <a:pPr lvl="0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2A7A0-4B35-4561-B97A-F8411D2B0297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C90321-4D47-4439-A16A-BE7569EA84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9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7840" y="299050"/>
            <a:ext cx="896112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7840" y="1742445"/>
            <a:ext cx="8961120" cy="4928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7840" y="6921363"/>
            <a:ext cx="2323253" cy="397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8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F6BD5AC2-7600-4CB9-AC88-4EE9EC847549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1907" y="6921363"/>
            <a:ext cx="3152987" cy="397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8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35707" y="6921363"/>
            <a:ext cx="2323253" cy="397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8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685222C2-F574-42F8-80F6-F7D9807432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8" r:id="rId1"/>
    <p:sldLayoutId id="2147484959" r:id="rId2"/>
    <p:sldLayoutId id="2147484960" r:id="rId3"/>
    <p:sldLayoutId id="2147484961" r:id="rId4"/>
    <p:sldLayoutId id="2147484962" r:id="rId5"/>
    <p:sldLayoutId id="2147484963" r:id="rId6"/>
    <p:sldLayoutId id="2147484964" r:id="rId7"/>
    <p:sldLayoutId id="2147484965" r:id="rId8"/>
    <p:sldLayoutId id="2147484966" r:id="rId9"/>
    <p:sldLayoutId id="2147484967" r:id="rId10"/>
    <p:sldLayoutId id="2147484968" r:id="rId11"/>
    <p:sldLayoutId id="214748496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79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5pPr>
      <a:lvl6pPr marL="497862" algn="ctr" rtl="0" fontAlgn="base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6pPr>
      <a:lvl7pPr marL="995723" algn="ctr" rtl="0" fontAlgn="base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7pPr>
      <a:lvl8pPr marL="1493587" algn="ctr" rtl="0" fontAlgn="base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8pPr>
      <a:lvl9pPr marL="1991448" algn="ctr" rtl="0" fontAlgn="base">
        <a:spcBef>
          <a:spcPct val="0"/>
        </a:spcBef>
        <a:spcAft>
          <a:spcPct val="0"/>
        </a:spcAft>
        <a:defRPr sz="4791">
          <a:solidFill>
            <a:schemeClr val="tx1"/>
          </a:solidFill>
          <a:latin typeface="Calibri" pitchFamily="34" charset="0"/>
        </a:defRPr>
      </a:lvl9pPr>
    </p:titleStyle>
    <p:bodyStyle>
      <a:lvl1pPr marL="373396" indent="-37339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484" kern="1200">
          <a:solidFill>
            <a:schemeClr val="tx1"/>
          </a:solidFill>
          <a:latin typeface="+mn-lt"/>
          <a:ea typeface="+mn-ea"/>
          <a:cs typeface="+mn-cs"/>
        </a:defRPr>
      </a:lvl1pPr>
      <a:lvl2pPr marL="809027" indent="-31116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049" kern="1200">
          <a:solidFill>
            <a:schemeClr val="tx1"/>
          </a:solidFill>
          <a:latin typeface="+mn-lt"/>
          <a:ea typeface="+mn-ea"/>
          <a:cs typeface="+mn-cs"/>
        </a:defRPr>
      </a:lvl2pPr>
      <a:lvl3pPr marL="1244655" indent="-24893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3pPr>
      <a:lvl4pPr marL="1742517" indent="-24893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240379" indent="-24893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2738241" indent="-248931" algn="l" defTabSz="995723" rtl="0" eaLnBrk="1" latinLnBrk="0" hangingPunct="1">
        <a:spcBef>
          <a:spcPct val="20000"/>
        </a:spcBef>
        <a:buFont typeface="Arial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236103" indent="-248931" algn="l" defTabSz="995723" rtl="0" eaLnBrk="1" latinLnBrk="0" hangingPunct="1">
        <a:spcBef>
          <a:spcPct val="20000"/>
        </a:spcBef>
        <a:buFont typeface="Arial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3733966" indent="-248931" algn="l" defTabSz="995723" rtl="0" eaLnBrk="1" latinLnBrk="0" hangingPunct="1">
        <a:spcBef>
          <a:spcPct val="20000"/>
        </a:spcBef>
        <a:buFont typeface="Arial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231828" indent="-248931" algn="l" defTabSz="995723" rtl="0" eaLnBrk="1" latinLnBrk="0" hangingPunct="1">
        <a:spcBef>
          <a:spcPct val="20000"/>
        </a:spcBef>
        <a:buFont typeface="Arial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97862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2pPr>
      <a:lvl3pPr marL="995723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87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4pPr>
      <a:lvl5pPr marL="1991448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5pPr>
      <a:lvl6pPr marL="2489310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6pPr>
      <a:lvl7pPr marL="2987171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7pPr>
      <a:lvl8pPr marL="3485035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8pPr>
      <a:lvl9pPr marL="3982897" algn="l" defTabSz="995723" rtl="0" eaLnBrk="1" latinLnBrk="0" hangingPunct="1">
        <a:defRPr sz="1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4601" y="293916"/>
            <a:ext cx="7537027" cy="3519203"/>
          </a:xfrm>
        </p:spPr>
        <p:txBody>
          <a:bodyPr/>
          <a:lstStyle/>
          <a:p>
            <a:pPr eaLnBrk="1" hangingPunct="1"/>
            <a:r>
              <a:rPr lang="en-US" altLang="en-US" sz="4356" dirty="0">
                <a:latin typeface="Century" pitchFamily="18" charset="0"/>
              </a:rPr>
              <a:t>Town of Brookline</a:t>
            </a:r>
            <a:br>
              <a:rPr lang="en-US" altLang="en-US" sz="4356" dirty="0">
                <a:latin typeface="Century" pitchFamily="18" charset="0"/>
              </a:rPr>
            </a:br>
            <a:r>
              <a:rPr lang="en-US" altLang="en-US" sz="4356" dirty="0">
                <a:latin typeface="Century" pitchFamily="18" charset="0"/>
              </a:rPr>
              <a:t>Select Board</a:t>
            </a:r>
            <a:br>
              <a:rPr lang="en-US" altLang="en-US" sz="4356" dirty="0">
                <a:latin typeface="Century" pitchFamily="18" charset="0"/>
              </a:rPr>
            </a:br>
            <a:r>
              <a:rPr lang="en-US" altLang="en-US" sz="3921" dirty="0">
                <a:latin typeface="Century" pitchFamily="18" charset="0"/>
              </a:rPr>
              <a:t>Fiscal Year 2026</a:t>
            </a:r>
            <a:br>
              <a:rPr lang="en-US" altLang="en-US" sz="4356" dirty="0">
                <a:latin typeface="Century" pitchFamily="18" charset="0"/>
              </a:rPr>
            </a:br>
            <a:r>
              <a:rPr lang="en-US" altLang="en-US" sz="4356" b="1" dirty="0">
                <a:latin typeface="Century" pitchFamily="18" charset="0"/>
              </a:rPr>
              <a:t>Tax Classification Hearing</a:t>
            </a:r>
            <a:br>
              <a:rPr lang="en-US" altLang="en-US" sz="4356" b="1" dirty="0">
                <a:latin typeface="Century" pitchFamily="18" charset="0"/>
              </a:rPr>
            </a:br>
            <a:r>
              <a:rPr lang="en-US" altLang="en-US" sz="4356" b="1" dirty="0">
                <a:latin typeface="Century" pitchFamily="18" charset="0"/>
              </a:rPr>
              <a:t>November 4, 2025</a:t>
            </a:r>
            <a:endParaRPr lang="en-US" altLang="en-US" sz="3921" dirty="0">
              <a:latin typeface="Century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244601" y="6388947"/>
            <a:ext cx="7467600" cy="74676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dirty="0">
                <a:latin typeface="Century" pitchFamily="18" charset="0"/>
              </a:rPr>
              <a:t>Prepared by the Board of Assessors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06093-3448-4973-94BA-DA2293A8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C91C1-DE5F-4A38-8A3B-77621F3A35D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6D8A62-6B2C-46EE-9B5E-396DE07B87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7940" y="3856992"/>
            <a:ext cx="4390347" cy="2473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26E9F-2E5C-4702-9D41-C1870CB0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6EE89F-E090-4EDF-9155-7B2C08010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9800" y="2057400"/>
            <a:ext cx="8458200" cy="4158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5F0899-6096-4DC0-9E66-89AA87F3E4C9}"/>
              </a:ext>
            </a:extLst>
          </p:cNvPr>
          <p:cNvSpPr txBox="1"/>
          <p:nvPr/>
        </p:nvSpPr>
        <p:spPr>
          <a:xfrm>
            <a:off x="1701800" y="1089889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Tax Classification Hearing</a:t>
            </a:r>
          </a:p>
        </p:txBody>
      </p:sp>
    </p:spTree>
    <p:extLst>
      <p:ext uri="{BB962C8B-B14F-4D97-AF65-F5344CB8AC3E}">
        <p14:creationId xmlns:p14="http://schemas.microsoft.com/office/powerpoint/2010/main" val="57401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FC1AA-D7C5-4FAC-B3C1-E8E2DABA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D6D1E9-65FC-4830-AB6E-32BB7FAEA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700" y="990600"/>
            <a:ext cx="9677400" cy="563879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637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98"/>
          <p:cNvSpPr>
            <a:spLocks noGrp="1" noChangeArrowheads="1"/>
          </p:cNvSpPr>
          <p:nvPr>
            <p:ph type="title"/>
          </p:nvPr>
        </p:nvSpPr>
        <p:spPr>
          <a:xfrm>
            <a:off x="414867" y="228600"/>
            <a:ext cx="9044093" cy="838201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4356" dirty="0"/>
            </a:br>
            <a:r>
              <a:rPr lang="en-US" sz="3921" dirty="0">
                <a:latin typeface="Century" pitchFamily="18" charset="0"/>
              </a:rPr>
              <a:t>FY2025–FY2026 Value Comparison</a:t>
            </a:r>
            <a:br>
              <a:rPr lang="en-US" sz="4356" dirty="0">
                <a:latin typeface="Century" pitchFamily="18" charset="0"/>
              </a:rPr>
            </a:br>
            <a:endParaRPr lang="en-US" sz="4356" dirty="0">
              <a:latin typeface="Century" pitchFamily="18" charset="0"/>
            </a:endParaRPr>
          </a:p>
        </p:txBody>
      </p:sp>
      <p:graphicFrame>
        <p:nvGraphicFramePr>
          <p:cNvPr id="92246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602699"/>
              </p:ext>
            </p:extLst>
          </p:nvPr>
        </p:nvGraphicFramePr>
        <p:xfrm>
          <a:off x="414867" y="1143000"/>
          <a:ext cx="9210040" cy="5562598"/>
        </p:xfrm>
        <a:graphic>
          <a:graphicData uri="http://schemas.openxmlformats.org/drawingml/2006/table">
            <a:tbl>
              <a:tblPr/>
              <a:tblGrid>
                <a:gridCol w="319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9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28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Class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FY25 Valuation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FY26 Valuation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Δ</a:t>
                      </a:r>
                      <a:endParaRPr kumimoji="0" lang="en-US" sz="3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8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Residential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29,951,077,622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30,758,464,684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2.7%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8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Commercial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2,609,331,135    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2,622,051,179    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0.5%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8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Industrial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20,916,000         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21,561,500         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3.1%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67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Personal Property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410,196,417         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430,231,850         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4.9%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8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Value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32,991,521,174    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33,832,309,213    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2.5%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6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Combined CIP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3,040,443,552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3,073,844,529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1.1%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46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Tax Exempt Real Estate</a:t>
                      </a: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3,952,727,853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4,082,345,727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3.3%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67" marB="4976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DF13-CC96-4040-8F64-B05D681A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328" y="248922"/>
            <a:ext cx="8961120" cy="779603"/>
          </a:xfrm>
        </p:spPr>
        <p:txBody>
          <a:bodyPr/>
          <a:lstStyle/>
          <a:p>
            <a:pPr eaLnBrk="1" hangingPunct="1"/>
            <a:r>
              <a:rPr lang="en-US" altLang="en-US" sz="4356" dirty="0">
                <a:latin typeface="Century" pitchFamily="18" charset="0"/>
              </a:rPr>
              <a:t>Average Value Change / Class</a:t>
            </a:r>
          </a:p>
        </p:txBody>
      </p:sp>
      <p:graphicFrame>
        <p:nvGraphicFramePr>
          <p:cNvPr id="165959" name="Group 7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69669375"/>
              </p:ext>
            </p:extLst>
          </p:nvPr>
        </p:nvGraphicFramePr>
        <p:xfrm>
          <a:off x="414866" y="1576493"/>
          <a:ext cx="9287933" cy="4824308"/>
        </p:xfrm>
        <a:graphic>
          <a:graphicData uri="http://schemas.openxmlformats.org/drawingml/2006/table">
            <a:tbl>
              <a:tblPr/>
              <a:tblGrid>
                <a:gridCol w="2342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775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Use Class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FY26 Parcels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FY26 Value/ Parcel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FY25 Value/ Parcel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3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Δ</a:t>
                      </a:r>
                    </a:p>
                  </a:txBody>
                  <a:tcPr marL="99568" marR="99568" marT="49784" marB="497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Single Family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4,579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2,844,212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2,780,851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Res. Condo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10,588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977,794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950,737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2.8%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&amp; 3 Family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1,112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2,303,456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2,272,113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1.4%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8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Apartments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361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9,183,051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8,857,271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3.7%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Commercial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443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5,088,879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5,018,689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1.4%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Industrial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3,080,214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2,988,000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F811-9EA8-43B4-8CCE-D09271FF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1908388" y="331894"/>
            <a:ext cx="6388947" cy="82973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8000"/>
                </a:solidFill>
                <a:latin typeface="Century" pitchFamily="18" charset="0"/>
              </a:rPr>
              <a:t>FY2026 New Growth</a:t>
            </a:r>
          </a:p>
        </p:txBody>
      </p:sp>
      <p:graphicFrame>
        <p:nvGraphicFramePr>
          <p:cNvPr id="167042" name="Group 13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32471244"/>
              </p:ext>
            </p:extLst>
          </p:nvPr>
        </p:nvGraphicFramePr>
        <p:xfrm>
          <a:off x="414867" y="1493520"/>
          <a:ext cx="9044092" cy="4526281"/>
        </p:xfrm>
        <a:graphic>
          <a:graphicData uri="http://schemas.openxmlformats.org/drawingml/2006/table">
            <a:tbl>
              <a:tblPr/>
              <a:tblGrid>
                <a:gridCol w="4340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6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Category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Value Growth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Tax Growth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Single Family Permits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72,537,200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715,942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6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Res. Condominiums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43,353,900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427,903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Multi-Family.&amp; Apts. 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129,861,335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1,281,731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Commercial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18,007,589    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298,206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6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Personal Property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50,570,310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837,444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6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All Classes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314,330,334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3,561,227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2B15-DA64-4660-A25C-9E75B3D65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8388" y="331894"/>
            <a:ext cx="6388947" cy="82973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2060"/>
                </a:solidFill>
                <a:latin typeface="Century" pitchFamily="18" charset="0"/>
              </a:rPr>
              <a:t>FY2026 Tax Levy</a:t>
            </a:r>
          </a:p>
        </p:txBody>
      </p:sp>
      <p:graphicFrame>
        <p:nvGraphicFramePr>
          <p:cNvPr id="167042" name="Group 13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305964169"/>
              </p:ext>
            </p:extLst>
          </p:nvPr>
        </p:nvGraphicFramePr>
        <p:xfrm>
          <a:off x="414868" y="1447800"/>
          <a:ext cx="9044092" cy="4771866"/>
        </p:xfrm>
        <a:graphic>
          <a:graphicData uri="http://schemas.openxmlformats.org/drawingml/2006/table">
            <a:tbl>
              <a:tblPr/>
              <a:tblGrid>
                <a:gridCol w="4334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9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3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Tax Levy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Percent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FY2025 Levy Limit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$293,111,747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3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Allowable 2.5% Increase 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$7,327,125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Allowable Net New Growth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$3,534,460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1.2%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FY2026 Maximum Levy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$303,973,332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7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FY26 Debt Exclusion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$28,596,862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98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Total FY2026 Levy</a:t>
                      </a:r>
                    </a:p>
                  </a:txBody>
                  <a:tcPr marL="99568" marR="99568" marT="49784" marB="49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$332,570,194</a:t>
                      </a: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ED5E9-A9F4-4FE9-953D-A5E3CF0E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97841" y="299052"/>
            <a:ext cx="8961120" cy="1028523"/>
          </a:xfrm>
        </p:spPr>
        <p:txBody>
          <a:bodyPr/>
          <a:lstStyle/>
          <a:p>
            <a:pPr eaLnBrk="1" hangingPunct="1"/>
            <a:r>
              <a:rPr lang="en-US" altLang="en-US" sz="4356" dirty="0">
                <a:latin typeface="Century" pitchFamily="18" charset="0"/>
              </a:rPr>
              <a:t>Residential Exemption FY26?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97841" y="1493521"/>
            <a:ext cx="8961120" cy="5061373"/>
          </a:xfrm>
        </p:spPr>
        <p:txBody>
          <a:bodyPr/>
          <a:lstStyle/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Total Residential Value = $30,758,464,684/</a:t>
            </a:r>
          </a:p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Total Residential Parcel Count: 17,330 = </a:t>
            </a:r>
          </a:p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Average Residential Value: $1,774,868</a:t>
            </a:r>
          </a:p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Times the selected Exemption Factor: </a:t>
            </a:r>
            <a:r>
              <a:rPr lang="en-US" altLang="en-US" sz="3049" b="1" dirty="0"/>
              <a:t>20%</a:t>
            </a:r>
            <a:r>
              <a:rPr lang="en-US" altLang="en-US" sz="3049" dirty="0"/>
              <a:t> =</a:t>
            </a:r>
          </a:p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Residential Exemption Value: </a:t>
            </a:r>
            <a:r>
              <a:rPr lang="en-US" altLang="en-US" sz="3049" b="1" u="sng" dirty="0"/>
              <a:t>$354,974</a:t>
            </a:r>
          </a:p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Times the selected Residential Tax Rate =</a:t>
            </a:r>
          </a:p>
          <a:p>
            <a:pPr marL="663816" indent="-663816" eaLnBrk="1" hangingPunct="1">
              <a:buFontTx/>
              <a:buAutoNum type="arabicPeriod"/>
            </a:pPr>
            <a:r>
              <a:rPr lang="en-US" altLang="en-US" sz="3049" dirty="0"/>
              <a:t>Total Residential Exemption Tax Amount</a:t>
            </a:r>
          </a:p>
          <a:p>
            <a:pPr marL="663816" indent="-663816" eaLnBrk="1" hangingPunct="1">
              <a:buNone/>
            </a:pPr>
            <a:r>
              <a:rPr lang="en-US" altLang="en-US" sz="3049" dirty="0"/>
              <a:t>	</a:t>
            </a:r>
          </a:p>
          <a:p>
            <a:pPr marL="663816" indent="-663816" eaLnBrk="1" hangingPunct="1">
              <a:buNone/>
            </a:pPr>
            <a:r>
              <a:rPr lang="en-US" altLang="en-US" sz="3049" dirty="0"/>
              <a:t>	</a:t>
            </a:r>
            <a:endParaRPr lang="en-US" altLang="en-US" sz="3049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1360C-4017-484F-BCFB-13C3E6E2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C91C1-DE5F-4A38-8A3B-77621F3A35D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1"/>
          <p:cNvSpPr>
            <a:spLocks noGrp="1" noChangeArrowheads="1"/>
          </p:cNvSpPr>
          <p:nvPr>
            <p:ph type="title"/>
          </p:nvPr>
        </p:nvSpPr>
        <p:spPr>
          <a:xfrm>
            <a:off x="414866" y="457200"/>
            <a:ext cx="8961120" cy="1198880"/>
          </a:xfrm>
        </p:spPr>
        <p:txBody>
          <a:bodyPr/>
          <a:lstStyle/>
          <a:p>
            <a:pPr eaLnBrk="1" hangingPunct="1"/>
            <a:r>
              <a:rPr lang="en-US" altLang="en-US" sz="4356" dirty="0">
                <a:latin typeface="Century" pitchFamily="18" charset="0"/>
              </a:rPr>
              <a:t>Residential Exemption Amounts</a:t>
            </a:r>
            <a:br>
              <a:rPr lang="en-US" altLang="en-US" sz="4356" dirty="0">
                <a:latin typeface="Century" pitchFamily="18" charset="0"/>
              </a:rPr>
            </a:br>
            <a:r>
              <a:rPr lang="en-US" altLang="en-US" sz="4356" dirty="0">
                <a:latin typeface="Century" pitchFamily="18" charset="0"/>
              </a:rPr>
              <a:t>At 20%</a:t>
            </a:r>
          </a:p>
        </p:txBody>
      </p:sp>
      <p:graphicFrame>
        <p:nvGraphicFramePr>
          <p:cNvPr id="182355" name="Group 8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314339126"/>
              </p:ext>
            </p:extLst>
          </p:nvPr>
        </p:nvGraphicFramePr>
        <p:xfrm>
          <a:off x="829733" y="1447800"/>
          <a:ext cx="8131387" cy="3163792"/>
        </p:xfrm>
        <a:graphic>
          <a:graphicData uri="http://schemas.openxmlformats.org/drawingml/2006/table">
            <a:tbl>
              <a:tblPr/>
              <a:tblGrid>
                <a:gridCol w="464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430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Classification</a:t>
                      </a: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Tax Rate</a:t>
                      </a: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Tax Amount</a:t>
                      </a: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3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Single Tax Rate w/RE (No Shift)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11.07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$3,930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8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1.727% Shift -Residential Rate =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10.26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$3,642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7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1.737% Shift - Residential Rate =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10.25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$3,638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31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1.746% Shift - Residential Rate =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10.24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$3,635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78" marB="49778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2390" name="Group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684053"/>
              </p:ext>
            </p:extLst>
          </p:nvPr>
        </p:nvGraphicFramePr>
        <p:xfrm>
          <a:off x="3816774" y="4597247"/>
          <a:ext cx="5144346" cy="2621433"/>
        </p:xfrm>
        <a:graphic>
          <a:graphicData uri="http://schemas.openxmlformats.org/drawingml/2006/table">
            <a:tbl>
              <a:tblPr/>
              <a:tblGrid>
                <a:gridCol w="213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0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Fiscal Year</a:t>
                      </a: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Exemption Amount</a:t>
                      </a:r>
                      <a:endParaRPr kumimoji="0" 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7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2025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$3,420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7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2024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$3,268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2023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$3,088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7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2022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$3,165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91" marB="497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648" name="Picture 4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44790" y="4839082"/>
            <a:ext cx="2274144" cy="2274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A030-2381-43E4-85BF-ACEC269C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457200"/>
            <a:ext cx="8961120" cy="977053"/>
          </a:xfrm>
        </p:spPr>
        <p:txBody>
          <a:bodyPr/>
          <a:lstStyle/>
          <a:p>
            <a:r>
              <a:rPr lang="en-US" dirty="0"/>
              <a:t>Median Tax Change</a:t>
            </a:r>
            <a:br>
              <a:rPr lang="en-US" dirty="0"/>
            </a:br>
            <a:r>
              <a:rPr lang="en-US" sz="2177" dirty="0"/>
              <a:t>All Classes W/Res.Ex @20%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15654C-9200-49F9-AA7A-3A77C39E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C91C1-DE5F-4A38-8A3B-77621F3A35D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F8BD9B1-CE3C-4336-836B-ED39819601E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634821"/>
              </p:ext>
            </p:extLst>
          </p:nvPr>
        </p:nvGraphicFramePr>
        <p:xfrm>
          <a:off x="1014783" y="1905000"/>
          <a:ext cx="8066193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715429" imgH="4610036" progId="Excel.Chart.8">
                  <p:embed/>
                </p:oleObj>
              </mc:Choice>
              <mc:Fallback>
                <p:oleObj name="Chart" r:id="rId2" imgW="8715429" imgH="4610036" progId="Excel.Chart.8">
                  <p:embed/>
                  <p:pic>
                    <p:nvPicPr>
                      <p:cNvPr id="4" name="Content Placeholder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783" y="1905000"/>
                        <a:ext cx="8066193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265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47"/>
          <p:cNvSpPr>
            <a:spLocks noGrp="1" noChangeArrowheads="1"/>
          </p:cNvSpPr>
          <p:nvPr>
            <p:ph type="title" idx="4294967295"/>
          </p:nvPr>
        </p:nvSpPr>
        <p:spPr>
          <a:xfrm>
            <a:off x="165947" y="248923"/>
            <a:ext cx="9624907" cy="1028524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Single Family&amp; Condo. </a:t>
            </a:r>
            <a:r>
              <a:rPr lang="en-US" altLang="en-US" sz="3921" u="sng" dirty="0">
                <a:solidFill>
                  <a:srgbClr val="0000FF"/>
                </a:solidFill>
                <a:latin typeface="Century" pitchFamily="18" charset="0"/>
              </a:rPr>
              <a:t>w/</a:t>
            </a:r>
            <a:r>
              <a:rPr lang="en-US" altLang="en-US" sz="3921" dirty="0">
                <a:latin typeface="Century" pitchFamily="18" charset="0"/>
              </a:rPr>
              <a:t>Res.Ex.(20%)</a:t>
            </a:r>
          </a:p>
        </p:txBody>
      </p:sp>
      <p:graphicFrame>
        <p:nvGraphicFramePr>
          <p:cNvPr id="178393" name="Group 21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92096440"/>
              </p:ext>
            </p:extLst>
          </p:nvPr>
        </p:nvGraphicFramePr>
        <p:xfrm>
          <a:off x="730673" y="1302847"/>
          <a:ext cx="8495453" cy="5689600"/>
        </p:xfrm>
        <a:graphic>
          <a:graphicData uri="http://schemas.openxmlformats.org/drawingml/2006/table">
            <a:tbl>
              <a:tblPr/>
              <a:tblGrid>
                <a:gridCol w="1809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303">
                  <a:extLst>
                    <a:ext uri="{9D8B030D-6E8A-4147-A177-3AD203B41FA5}">
                      <a16:colId xmlns:a16="http://schemas.microsoft.com/office/drawing/2014/main" val="4009187841"/>
                    </a:ext>
                  </a:extLst>
                </a:gridCol>
                <a:gridCol w="880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560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SFL Value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$2,041,426 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43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(79% RE)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20,904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20,925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20,945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20,965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20,986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21,006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7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$19,702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1,202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1,223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1,243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1,263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1,284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1,304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75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5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Res. Condo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$484,626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36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Real Estate Tax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(51% RE)  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4,963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4,967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4,972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4,977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4,982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4,987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41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Change over FY25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     $4,704 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259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268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273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278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283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410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% Increase in Tax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711" name="Rectangle 347"/>
          <p:cNvSpPr>
            <a:spLocks noChangeArrowheads="1"/>
          </p:cNvSpPr>
          <p:nvPr/>
        </p:nvSpPr>
        <p:spPr bwMode="auto">
          <a:xfrm>
            <a:off x="580813" y="6223000"/>
            <a:ext cx="8961120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743" dirty="0">
              <a:solidFill>
                <a:schemeClr val="tx2"/>
              </a:solidFill>
              <a:latin typeface="Century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8959-E2F7-40E4-9BE4-0CBA748C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47"/>
          <p:cNvSpPr>
            <a:spLocks noGrp="1" noChangeArrowheads="1"/>
          </p:cNvSpPr>
          <p:nvPr>
            <p:ph type="title"/>
          </p:nvPr>
        </p:nvSpPr>
        <p:spPr>
          <a:xfrm>
            <a:off x="165948" y="299051"/>
            <a:ext cx="9707880" cy="1128566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Two Fam. &amp; Three Fam. </a:t>
            </a:r>
            <a:r>
              <a:rPr lang="en-US" altLang="en-US" sz="3921" u="sng" dirty="0">
                <a:solidFill>
                  <a:srgbClr val="0000FF"/>
                </a:solidFill>
                <a:latin typeface="Century" pitchFamily="18" charset="0"/>
              </a:rPr>
              <a:t>w/</a:t>
            </a:r>
            <a:r>
              <a:rPr lang="en-US" altLang="en-US" sz="3921" dirty="0">
                <a:latin typeface="Century" pitchFamily="18" charset="0"/>
              </a:rPr>
              <a:t>Res.Ex. (20%)</a:t>
            </a:r>
          </a:p>
        </p:txBody>
      </p:sp>
      <p:graphicFrame>
        <p:nvGraphicFramePr>
          <p:cNvPr id="179372" name="Group 17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943729375"/>
              </p:ext>
            </p:extLst>
          </p:nvPr>
        </p:nvGraphicFramePr>
        <p:xfrm>
          <a:off x="748323" y="1427617"/>
          <a:ext cx="8460154" cy="5500657"/>
        </p:xfrm>
        <a:graphic>
          <a:graphicData uri="http://schemas.openxmlformats.org/drawingml/2006/table">
            <a:tbl>
              <a:tblPr/>
              <a:tblGrid>
                <a:gridCol w="1871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666">
                  <a:extLst>
                    <a:ext uri="{9D8B030D-6E8A-4147-A177-3AD203B41FA5}">
                      <a16:colId xmlns:a16="http://schemas.microsoft.com/office/drawing/2014/main" val="1345662393"/>
                    </a:ext>
                  </a:extLst>
                </a:gridCol>
                <a:gridCol w="90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288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Two-Family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$1,849,326</a:t>
                      </a: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62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(63% RE)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18,937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18,956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18,974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18,993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19,011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19,029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62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$18,056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881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900       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918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937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955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974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95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62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Three-Fam.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$1,990,076 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7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(31% RE)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20,378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20,398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20,418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20,438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20,457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20,478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28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$19,395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983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1,003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1,023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1,043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1,063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1,083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586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735" name="Rectangle 347"/>
          <p:cNvSpPr>
            <a:spLocks noChangeArrowheads="1"/>
          </p:cNvSpPr>
          <p:nvPr/>
        </p:nvSpPr>
        <p:spPr bwMode="auto">
          <a:xfrm>
            <a:off x="331894" y="6720841"/>
            <a:ext cx="4397587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743" dirty="0">
              <a:solidFill>
                <a:schemeClr val="tx2"/>
              </a:solidFill>
              <a:latin typeface="Century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12DF-C9D1-44A3-B86E-92A2B451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>
          <a:xfrm>
            <a:off x="497841" y="331893"/>
            <a:ext cx="8961120" cy="995680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Apartments &amp; Commercial</a:t>
            </a:r>
          </a:p>
        </p:txBody>
      </p:sp>
      <p:graphicFrame>
        <p:nvGraphicFramePr>
          <p:cNvPr id="26685" name="Group 6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48648567"/>
              </p:ext>
            </p:extLst>
          </p:nvPr>
        </p:nvGraphicFramePr>
        <p:xfrm>
          <a:off x="711200" y="1201934"/>
          <a:ext cx="8259052" cy="2713922"/>
        </p:xfrm>
        <a:graphic>
          <a:graphicData uri="http://schemas.openxmlformats.org/drawingml/2006/table">
            <a:tbl>
              <a:tblPr/>
              <a:tblGrid>
                <a:gridCol w="189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444">
                  <a:extLst>
                    <a:ext uri="{9D8B030D-6E8A-4147-A177-3AD203B41FA5}">
                      <a16:colId xmlns:a16="http://schemas.microsoft.com/office/drawing/2014/main" val="487469347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64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758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Multi-Fam./Apt.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$4,177,950 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3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(4% RE)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42,782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42,823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42,865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42,907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42,949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42,991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58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$40,184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2,598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2,640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2,682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2,724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2,765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2,807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37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23" name="Rectangle 347"/>
          <p:cNvSpPr>
            <a:spLocks noChangeArrowheads="1"/>
          </p:cNvSpPr>
          <p:nvPr/>
        </p:nvSpPr>
        <p:spPr bwMode="auto">
          <a:xfrm>
            <a:off x="580813" y="6745039"/>
            <a:ext cx="5393267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en-US" sz="1743" dirty="0">
                <a:solidFill>
                  <a:schemeClr val="tx2"/>
                </a:solidFill>
                <a:latin typeface="Century" pitchFamily="18" charset="0"/>
              </a:rPr>
            </a:br>
            <a:r>
              <a:rPr lang="en-US" altLang="en-US" sz="1743" dirty="0">
                <a:solidFill>
                  <a:schemeClr val="tx2"/>
                </a:solidFill>
                <a:latin typeface="Century" pitchFamily="18" charset="0"/>
              </a:rPr>
              <a:t>.</a:t>
            </a:r>
          </a:p>
        </p:txBody>
      </p:sp>
      <p:graphicFrame>
        <p:nvGraphicFramePr>
          <p:cNvPr id="8" name="Group 8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6502972"/>
              </p:ext>
            </p:extLst>
          </p:nvPr>
        </p:nvGraphicFramePr>
        <p:xfrm>
          <a:off x="711200" y="3915856"/>
          <a:ext cx="8259052" cy="2762322"/>
        </p:xfrm>
        <a:graphic>
          <a:graphicData uri="http://schemas.openxmlformats.org/drawingml/2006/table">
            <a:tbl>
              <a:tblPr/>
              <a:tblGrid>
                <a:gridCol w="189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444">
                  <a:extLst>
                    <a:ext uri="{9D8B030D-6E8A-4147-A177-3AD203B41FA5}">
                      <a16:colId xmlns:a16="http://schemas.microsoft.com/office/drawing/2014/main" val="1190917583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64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02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Commercial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$2,010,200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67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34,495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34,314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34,133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33,952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33,771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33,611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07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$33,187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1,308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1,127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946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765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584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424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2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C7566-2566-4D19-9810-953DE628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5DC49E-F0D4-4ACD-B195-87E9746903A0}"/>
              </a:ext>
            </a:extLst>
          </p:cNvPr>
          <p:cNvSpPr txBox="1"/>
          <p:nvPr/>
        </p:nvSpPr>
        <p:spPr>
          <a:xfrm>
            <a:off x="2997200" y="482768"/>
            <a:ext cx="41385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Expanded Tax Rate Worksheet</a:t>
            </a:r>
          </a:p>
          <a:p>
            <a:r>
              <a:rPr lang="en-US" sz="2000" dirty="0"/>
              <a:t>20% Res. Exemption</a:t>
            </a:r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238D8-EB50-4955-B0FE-70A32827E45C}"/>
              </a:ext>
            </a:extLst>
          </p:cNvPr>
          <p:cNvSpPr txBox="1"/>
          <p:nvPr/>
        </p:nvSpPr>
        <p:spPr>
          <a:xfrm>
            <a:off x="4521708" y="327812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EAFCC-D35C-4FE6-8EB7-A354FDF5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119E4-ACA5-4ED9-A804-D02F12545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000" y="1600200"/>
            <a:ext cx="9448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1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456812"/>
            <a:ext cx="8961120" cy="829733"/>
          </a:xfrm>
        </p:spPr>
        <p:txBody>
          <a:bodyPr/>
          <a:lstStyle/>
          <a:p>
            <a:r>
              <a:rPr lang="en-US" dirty="0"/>
              <a:t>Median Tax Change</a:t>
            </a:r>
            <a:br>
              <a:rPr lang="en-US" dirty="0"/>
            </a:br>
            <a:r>
              <a:rPr lang="en-US" sz="2177" dirty="0"/>
              <a:t>All Classes W/Res.Ex @19%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472106"/>
              </p:ext>
            </p:extLst>
          </p:nvPr>
        </p:nvGraphicFramePr>
        <p:xfrm>
          <a:off x="1320800" y="1524000"/>
          <a:ext cx="7110938" cy="5178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762971" imgH="6381763" progId="Excel.Chart.8">
                  <p:embed/>
                </p:oleObj>
              </mc:Choice>
              <mc:Fallback>
                <p:oleObj name="Chart" r:id="rId2" imgW="8762971" imgH="6381763" progId="Excel.Chart.8">
                  <p:embed/>
                  <p:pic>
                    <p:nvPicPr>
                      <p:cNvPr id="4" name="Content Placeholder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1524000"/>
                        <a:ext cx="7110938" cy="5178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BD392C-AEC0-48C1-84BE-99D905BE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C91C1-DE5F-4A38-8A3B-77621F3A35D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0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47"/>
          <p:cNvSpPr>
            <a:spLocks noGrp="1" noChangeArrowheads="1"/>
          </p:cNvSpPr>
          <p:nvPr>
            <p:ph type="title" idx="4294967295"/>
          </p:nvPr>
        </p:nvSpPr>
        <p:spPr>
          <a:xfrm>
            <a:off x="165947" y="248923"/>
            <a:ext cx="9624907" cy="1028524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Single Family&amp; Condo. </a:t>
            </a:r>
            <a:r>
              <a:rPr lang="en-US" altLang="en-US" sz="3921" u="sng" dirty="0">
                <a:solidFill>
                  <a:srgbClr val="0000FF"/>
                </a:solidFill>
                <a:latin typeface="Century" pitchFamily="18" charset="0"/>
              </a:rPr>
              <a:t>w/</a:t>
            </a:r>
            <a:r>
              <a:rPr lang="en-US" altLang="en-US" sz="3921" dirty="0" err="1">
                <a:latin typeface="Century" pitchFamily="18" charset="0"/>
              </a:rPr>
              <a:t>Res.Ex</a:t>
            </a:r>
            <a:r>
              <a:rPr lang="en-US" altLang="en-US" sz="3921" dirty="0">
                <a:latin typeface="Century" pitchFamily="18" charset="0"/>
              </a:rPr>
              <a:t>.(19%)</a:t>
            </a:r>
          </a:p>
        </p:txBody>
      </p:sp>
      <p:graphicFrame>
        <p:nvGraphicFramePr>
          <p:cNvPr id="178393" name="Group 21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76190397"/>
              </p:ext>
            </p:extLst>
          </p:nvPr>
        </p:nvGraphicFramePr>
        <p:xfrm>
          <a:off x="489373" y="1277447"/>
          <a:ext cx="8961119" cy="5732953"/>
        </p:xfrm>
        <a:graphic>
          <a:graphicData uri="http://schemas.openxmlformats.org/drawingml/2006/table">
            <a:tbl>
              <a:tblPr/>
              <a:tblGrid>
                <a:gridCol w="202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463">
                  <a:extLst>
                    <a:ext uri="{9D8B030D-6E8A-4147-A177-3AD203B41FA5}">
                      <a16:colId xmlns:a16="http://schemas.microsoft.com/office/drawing/2014/main" val="3725670805"/>
                    </a:ext>
                  </a:extLst>
                </a:gridCol>
                <a:gridCol w="99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6114">
                  <a:extLst>
                    <a:ext uri="{9D8B030D-6E8A-4147-A177-3AD203B41FA5}">
                      <a16:colId xmlns:a16="http://schemas.microsoft.com/office/drawing/2014/main" val="1774988924"/>
                    </a:ext>
                  </a:extLst>
                </a:gridCol>
              </a:tblGrid>
              <a:tr h="8923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SFL Value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$2,059,175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1.697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(79% RE)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20,962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20,983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21,004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21,024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21,045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21,065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01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$19,702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1,260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1,281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1,302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1,322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1,343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1,363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84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55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Res. Condo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$502,375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7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957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1.697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09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Real Estate Tax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(51% RE)  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5,114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5,119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5,124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5,129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5,134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5,139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973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Change over FY25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     $4,704 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410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415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420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430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435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01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% Increase in Tax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8.9%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9.3%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711" name="Rectangle 347"/>
          <p:cNvSpPr>
            <a:spLocks noChangeArrowheads="1"/>
          </p:cNvSpPr>
          <p:nvPr/>
        </p:nvSpPr>
        <p:spPr bwMode="auto">
          <a:xfrm>
            <a:off x="580813" y="6223000"/>
            <a:ext cx="8961120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743" dirty="0">
              <a:solidFill>
                <a:schemeClr val="tx2"/>
              </a:solidFill>
              <a:latin typeface="Century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8959-E2F7-40E4-9BE4-0CBA748C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46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47"/>
          <p:cNvSpPr>
            <a:spLocks noGrp="1" noChangeArrowheads="1"/>
          </p:cNvSpPr>
          <p:nvPr>
            <p:ph type="title"/>
          </p:nvPr>
        </p:nvSpPr>
        <p:spPr>
          <a:xfrm>
            <a:off x="165948" y="299051"/>
            <a:ext cx="9707880" cy="996349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Two Fam. &amp; Three Fam. </a:t>
            </a:r>
            <a:r>
              <a:rPr lang="en-US" altLang="en-US" sz="3921" u="sng" dirty="0">
                <a:solidFill>
                  <a:srgbClr val="0000FF"/>
                </a:solidFill>
                <a:latin typeface="Century" pitchFamily="18" charset="0"/>
              </a:rPr>
              <a:t>w/</a:t>
            </a:r>
            <a:r>
              <a:rPr lang="en-US" altLang="en-US" sz="3921" dirty="0">
                <a:latin typeface="Century" pitchFamily="18" charset="0"/>
              </a:rPr>
              <a:t>Res.Ex. (19%)</a:t>
            </a:r>
          </a:p>
        </p:txBody>
      </p:sp>
      <p:graphicFrame>
        <p:nvGraphicFramePr>
          <p:cNvPr id="179372" name="Group 17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90618760"/>
              </p:ext>
            </p:extLst>
          </p:nvPr>
        </p:nvGraphicFramePr>
        <p:xfrm>
          <a:off x="514633" y="1365597"/>
          <a:ext cx="9010509" cy="5555766"/>
        </p:xfrm>
        <a:graphic>
          <a:graphicData uri="http://schemas.openxmlformats.org/drawingml/2006/table">
            <a:tbl>
              <a:tblPr/>
              <a:tblGrid>
                <a:gridCol w="198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222">
                  <a:extLst>
                    <a:ext uri="{9D8B030D-6E8A-4147-A177-3AD203B41FA5}">
                      <a16:colId xmlns:a16="http://schemas.microsoft.com/office/drawing/2014/main" val="3164845678"/>
                    </a:ext>
                  </a:extLst>
                </a:gridCol>
                <a:gridCol w="953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085">
                  <a:extLst>
                    <a:ext uri="{9D8B030D-6E8A-4147-A177-3AD203B41FA5}">
                      <a16:colId xmlns:a16="http://schemas.microsoft.com/office/drawing/2014/main" val="2657136566"/>
                    </a:ext>
                  </a:extLst>
                </a:gridCol>
              </a:tblGrid>
              <a:tr h="841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Two-Family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$1,867,075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1.697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(63% RE)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19,007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19,025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19,044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19,063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19,082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19,100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$18,056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1,007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3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5.5%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5.7%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Three-Fam.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$2,007,825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1.697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2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(31% RE)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20,440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20,460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20,480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20,500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20,520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20,540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4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$19,395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1,045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1,085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1,105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1,125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1,145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435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5.5%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5.7%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5.9%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735" name="Rectangle 347"/>
          <p:cNvSpPr>
            <a:spLocks noChangeArrowheads="1"/>
          </p:cNvSpPr>
          <p:nvPr/>
        </p:nvSpPr>
        <p:spPr bwMode="auto">
          <a:xfrm>
            <a:off x="331894" y="6705287"/>
            <a:ext cx="4397587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743" dirty="0">
              <a:solidFill>
                <a:schemeClr val="tx2"/>
              </a:solidFill>
              <a:latin typeface="Century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12DF-C9D1-44A3-B86E-92A2B451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62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>
          <a:xfrm>
            <a:off x="497841" y="331893"/>
            <a:ext cx="8961120" cy="995680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Apartments &amp; Commercial</a:t>
            </a:r>
          </a:p>
        </p:txBody>
      </p:sp>
      <p:graphicFrame>
        <p:nvGraphicFramePr>
          <p:cNvPr id="26685" name="Group 6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14034524"/>
              </p:ext>
            </p:extLst>
          </p:nvPr>
        </p:nvGraphicFramePr>
        <p:xfrm>
          <a:off x="497840" y="1244601"/>
          <a:ext cx="8900162" cy="2713922"/>
        </p:xfrm>
        <a:graphic>
          <a:graphicData uri="http://schemas.openxmlformats.org/drawingml/2006/table">
            <a:tbl>
              <a:tblPr/>
              <a:tblGrid>
                <a:gridCol w="2046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524">
                  <a:extLst>
                    <a:ext uri="{9D8B030D-6E8A-4147-A177-3AD203B41FA5}">
                      <a16:colId xmlns:a16="http://schemas.microsoft.com/office/drawing/2014/main" val="1734063681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556628199"/>
                    </a:ext>
                  </a:extLst>
                </a:gridCol>
              </a:tblGrid>
              <a:tr h="67758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Multi-Fam./Apt.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$4,177,950 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1.697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3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(4% RE)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42,532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42,573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42,615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42,657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42,699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42,740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58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$40,184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2,348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2,389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2,431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2,473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2,515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2,556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37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5.9%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23" name="Rectangle 347"/>
          <p:cNvSpPr>
            <a:spLocks noChangeArrowheads="1"/>
          </p:cNvSpPr>
          <p:nvPr/>
        </p:nvSpPr>
        <p:spPr bwMode="auto">
          <a:xfrm>
            <a:off x="580813" y="6745039"/>
            <a:ext cx="5393267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en-US" sz="1743" dirty="0">
                <a:solidFill>
                  <a:schemeClr val="tx2"/>
                </a:solidFill>
                <a:latin typeface="Century" pitchFamily="18" charset="0"/>
              </a:rPr>
            </a:br>
            <a:r>
              <a:rPr lang="en-US" altLang="en-US" sz="1743" dirty="0">
                <a:solidFill>
                  <a:schemeClr val="tx2"/>
                </a:solidFill>
                <a:latin typeface="Century" pitchFamily="18" charset="0"/>
              </a:rPr>
              <a:t>.</a:t>
            </a:r>
          </a:p>
        </p:txBody>
      </p:sp>
      <p:graphicFrame>
        <p:nvGraphicFramePr>
          <p:cNvPr id="8" name="Group 8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657001"/>
              </p:ext>
            </p:extLst>
          </p:nvPr>
        </p:nvGraphicFramePr>
        <p:xfrm>
          <a:off x="497840" y="3962400"/>
          <a:ext cx="8900160" cy="2751053"/>
        </p:xfrm>
        <a:graphic>
          <a:graphicData uri="http://schemas.openxmlformats.org/drawingml/2006/table">
            <a:tbl>
              <a:tblPr/>
              <a:tblGrid>
                <a:gridCol w="2046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524">
                  <a:extLst>
                    <a:ext uri="{9D8B030D-6E8A-4147-A177-3AD203B41FA5}">
                      <a16:colId xmlns:a16="http://schemas.microsoft.com/office/drawing/2014/main" val="1550532214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217">
                  <a:extLst>
                    <a:ext uri="{9D8B030D-6E8A-4147-A177-3AD203B41FA5}">
                      <a16:colId xmlns:a16="http://schemas.microsoft.com/office/drawing/2014/main" val="3476954663"/>
                    </a:ext>
                  </a:extLst>
                </a:gridCol>
              </a:tblGrid>
              <a:tr h="6872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Commercial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$2,010,200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1.724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1.697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36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34,435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34,254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34,073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33,892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33,711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33,530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10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$33,187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1,248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1,067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2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3.8%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2.7%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C7566-2566-4D19-9810-953DE628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70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5406CF-0305-44B4-AD3E-456839778288}"/>
              </a:ext>
            </a:extLst>
          </p:cNvPr>
          <p:cNvSpPr txBox="1"/>
          <p:nvPr/>
        </p:nvSpPr>
        <p:spPr>
          <a:xfrm>
            <a:off x="2921000" y="413474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Expanded Tax Rate Worksheet</a:t>
            </a:r>
          </a:p>
          <a:p>
            <a:r>
              <a:rPr lang="en-US" b="1" dirty="0"/>
              <a:t>19% Res. Exemption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68AADB-0E67-49D1-89C5-C3F56142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EED7C9-168B-45CB-8A5E-97D7B04F8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22" y="1524000"/>
            <a:ext cx="9777155" cy="48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17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530" y="609600"/>
            <a:ext cx="8961120" cy="829733"/>
          </a:xfrm>
        </p:spPr>
        <p:txBody>
          <a:bodyPr/>
          <a:lstStyle/>
          <a:p>
            <a:r>
              <a:rPr lang="en-US" dirty="0"/>
              <a:t>Median Tax Change</a:t>
            </a:r>
            <a:br>
              <a:rPr lang="en-US" dirty="0"/>
            </a:br>
            <a:r>
              <a:rPr lang="en-US" sz="2177" dirty="0"/>
              <a:t>All Classes W/Res.Ex @21%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504085"/>
              </p:ext>
            </p:extLst>
          </p:nvPr>
        </p:nvGraphicFramePr>
        <p:xfrm>
          <a:off x="584200" y="1881188"/>
          <a:ext cx="9061450" cy="468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696343" imgH="4495697" progId="Excel.Chart.8">
                  <p:embed/>
                </p:oleObj>
              </mc:Choice>
              <mc:Fallback>
                <p:oleObj name="Chart" r:id="rId2" imgW="8696343" imgH="4495697" progId="Excel.Chart.8">
                  <p:embed/>
                  <p:pic>
                    <p:nvPicPr>
                      <p:cNvPr id="4" name="Content Placeholder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1881188"/>
                        <a:ext cx="9061450" cy="468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F37247-C25B-4D34-A127-68E8BE7A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C91C1-DE5F-4A38-8A3B-77621F3A35D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816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47"/>
          <p:cNvSpPr>
            <a:spLocks noGrp="1" noChangeArrowheads="1"/>
          </p:cNvSpPr>
          <p:nvPr>
            <p:ph type="title" idx="4294967295"/>
          </p:nvPr>
        </p:nvSpPr>
        <p:spPr>
          <a:xfrm>
            <a:off x="165947" y="248923"/>
            <a:ext cx="9624907" cy="1028524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Single Family&amp; Condo. </a:t>
            </a:r>
            <a:r>
              <a:rPr lang="en-US" altLang="en-US" sz="3921" u="sng" dirty="0">
                <a:solidFill>
                  <a:srgbClr val="0000FF"/>
                </a:solidFill>
                <a:latin typeface="Century" pitchFamily="18" charset="0"/>
              </a:rPr>
              <a:t>w/</a:t>
            </a:r>
            <a:r>
              <a:rPr lang="en-US" altLang="en-US" sz="3921" dirty="0">
                <a:latin typeface="Century" pitchFamily="18" charset="0"/>
              </a:rPr>
              <a:t>Res.Ex.(21%)</a:t>
            </a:r>
          </a:p>
        </p:txBody>
      </p:sp>
      <p:graphicFrame>
        <p:nvGraphicFramePr>
          <p:cNvPr id="178393" name="Group 21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21949878"/>
              </p:ext>
            </p:extLst>
          </p:nvPr>
        </p:nvGraphicFramePr>
        <p:xfrm>
          <a:off x="375920" y="1231763"/>
          <a:ext cx="9000067" cy="5705835"/>
        </p:xfrm>
        <a:graphic>
          <a:graphicData uri="http://schemas.openxmlformats.org/drawingml/2006/table">
            <a:tbl>
              <a:tblPr/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832">
                  <a:extLst>
                    <a:ext uri="{9D8B030D-6E8A-4147-A177-3AD203B41FA5}">
                      <a16:colId xmlns:a16="http://schemas.microsoft.com/office/drawing/2014/main" val="3818162480"/>
                    </a:ext>
                  </a:extLst>
                </a:gridCol>
                <a:gridCol w="932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3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0183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SFL Value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$2,023,678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43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(79% RE)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20,844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20,864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20,884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20,905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20,925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20,945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7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$19,702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  1,142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  1,162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1,182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 1,203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  1,223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    1,243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75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5.9%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95723" rtl="0" eaLnBrk="1" fontAlgn="b" latinLnBrk="0" hangingPunct="1"/>
                      <a:r>
                        <a:rPr lang="en-US" sz="15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5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Res. Condo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$466,878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36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Real Estate Tax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(51% RE)  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4,809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4,814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4,818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4,823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4,828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 4,832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413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Change over FY25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     $4,704 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 105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 110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114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119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124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128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410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% Increase in Tax</a:t>
                      </a: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9565" marR="99565" marT="49779" marB="4977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711" name="Rectangle 347"/>
          <p:cNvSpPr>
            <a:spLocks noChangeArrowheads="1"/>
          </p:cNvSpPr>
          <p:nvPr/>
        </p:nvSpPr>
        <p:spPr bwMode="auto">
          <a:xfrm>
            <a:off x="580813" y="6223000"/>
            <a:ext cx="8961120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743" dirty="0">
              <a:solidFill>
                <a:schemeClr val="tx2"/>
              </a:solidFill>
              <a:latin typeface="Century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8959-E2F7-40E4-9BE4-0CBA748C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54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47"/>
          <p:cNvSpPr>
            <a:spLocks noGrp="1" noChangeArrowheads="1"/>
          </p:cNvSpPr>
          <p:nvPr>
            <p:ph type="title"/>
          </p:nvPr>
        </p:nvSpPr>
        <p:spPr>
          <a:xfrm>
            <a:off x="165948" y="299051"/>
            <a:ext cx="9707880" cy="996349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Two Fam. &amp; Three Fam. </a:t>
            </a:r>
            <a:r>
              <a:rPr lang="en-US" altLang="en-US" sz="3921" u="sng" dirty="0">
                <a:solidFill>
                  <a:srgbClr val="0000FF"/>
                </a:solidFill>
                <a:latin typeface="Century" pitchFamily="18" charset="0"/>
              </a:rPr>
              <a:t>w/</a:t>
            </a:r>
            <a:r>
              <a:rPr lang="en-US" altLang="en-US" sz="3921" dirty="0">
                <a:latin typeface="Century" pitchFamily="18" charset="0"/>
              </a:rPr>
              <a:t>Res.Ex. (21%)</a:t>
            </a:r>
          </a:p>
        </p:txBody>
      </p:sp>
      <p:graphicFrame>
        <p:nvGraphicFramePr>
          <p:cNvPr id="179372" name="Group 17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819567707"/>
              </p:ext>
            </p:extLst>
          </p:nvPr>
        </p:nvGraphicFramePr>
        <p:xfrm>
          <a:off x="235091" y="1365598"/>
          <a:ext cx="9223869" cy="5555766"/>
        </p:xfrm>
        <a:graphic>
          <a:graphicData uri="http://schemas.openxmlformats.org/drawingml/2006/table">
            <a:tbl>
              <a:tblPr/>
              <a:tblGrid>
                <a:gridCol w="2040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333">
                  <a:extLst>
                    <a:ext uri="{9D8B030D-6E8A-4147-A177-3AD203B41FA5}">
                      <a16:colId xmlns:a16="http://schemas.microsoft.com/office/drawing/2014/main" val="2582400498"/>
                    </a:ext>
                  </a:extLst>
                </a:gridCol>
                <a:gridCol w="981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6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1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1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Two-Family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$1,831,578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(63% RE)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18,865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18,884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18,902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18,920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18,939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18,957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$18,056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809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828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846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864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883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901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3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Three-Fam.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$1,972,328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2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(31% RE)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20,315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20,335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20,354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20,374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20,394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20,414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4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$19,395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 920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  940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959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979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999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1,019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435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735" name="Rectangle 347"/>
          <p:cNvSpPr>
            <a:spLocks noChangeArrowheads="1"/>
          </p:cNvSpPr>
          <p:nvPr/>
        </p:nvSpPr>
        <p:spPr bwMode="auto">
          <a:xfrm>
            <a:off x="331894" y="6720841"/>
            <a:ext cx="4397587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743" dirty="0">
              <a:solidFill>
                <a:schemeClr val="tx2"/>
              </a:solidFill>
              <a:latin typeface="Century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12DF-C9D1-44A3-B86E-92A2B451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38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>
          <a:xfrm>
            <a:off x="497841" y="331893"/>
            <a:ext cx="8961120" cy="995680"/>
          </a:xfrm>
        </p:spPr>
        <p:txBody>
          <a:bodyPr/>
          <a:lstStyle/>
          <a:p>
            <a:pPr eaLnBrk="1" hangingPunct="1"/>
            <a:r>
              <a:rPr lang="en-US" altLang="en-US" sz="3921" dirty="0">
                <a:latin typeface="Century" pitchFamily="18" charset="0"/>
              </a:rPr>
              <a:t>Apartments &amp; Commercial</a:t>
            </a:r>
          </a:p>
        </p:txBody>
      </p:sp>
      <p:graphicFrame>
        <p:nvGraphicFramePr>
          <p:cNvPr id="26685" name="Group 6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571725866"/>
              </p:ext>
            </p:extLst>
          </p:nvPr>
        </p:nvGraphicFramePr>
        <p:xfrm>
          <a:off x="497839" y="1244601"/>
          <a:ext cx="8961119" cy="2713922"/>
        </p:xfrm>
        <a:graphic>
          <a:graphicData uri="http://schemas.openxmlformats.org/drawingml/2006/table">
            <a:tbl>
              <a:tblPr/>
              <a:tblGrid>
                <a:gridCol w="20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097">
                  <a:extLst>
                    <a:ext uri="{9D8B030D-6E8A-4147-A177-3AD203B41FA5}">
                      <a16:colId xmlns:a16="http://schemas.microsoft.com/office/drawing/2014/main" val="936408609"/>
                    </a:ext>
                  </a:extLst>
                </a:gridCol>
                <a:gridCol w="941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1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0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758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Multi-Fam./Apt.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$4,177,950 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3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(4% RE)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43,033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43,075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43,116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43,158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43,200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43,242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58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$40,184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2,849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2,891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2,932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2,974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3,016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3,058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37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7.6%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23" name="Rectangle 347"/>
          <p:cNvSpPr>
            <a:spLocks noChangeArrowheads="1"/>
          </p:cNvSpPr>
          <p:nvPr/>
        </p:nvSpPr>
        <p:spPr bwMode="auto">
          <a:xfrm>
            <a:off x="580813" y="6745039"/>
            <a:ext cx="5393267" cy="4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en-US" sz="1743" dirty="0">
                <a:solidFill>
                  <a:schemeClr val="tx2"/>
                </a:solidFill>
                <a:latin typeface="Century" pitchFamily="18" charset="0"/>
              </a:rPr>
            </a:br>
            <a:r>
              <a:rPr lang="en-US" altLang="en-US" sz="1743" dirty="0">
                <a:solidFill>
                  <a:schemeClr val="tx2"/>
                </a:solidFill>
                <a:latin typeface="Century" pitchFamily="18" charset="0"/>
              </a:rPr>
              <a:t>.</a:t>
            </a:r>
          </a:p>
        </p:txBody>
      </p:sp>
      <p:graphicFrame>
        <p:nvGraphicFramePr>
          <p:cNvPr id="8" name="Group 8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229184"/>
              </p:ext>
            </p:extLst>
          </p:nvPr>
        </p:nvGraphicFramePr>
        <p:xfrm>
          <a:off x="497840" y="3958523"/>
          <a:ext cx="8961118" cy="2762321"/>
        </p:xfrm>
        <a:graphic>
          <a:graphicData uri="http://schemas.openxmlformats.org/drawingml/2006/table">
            <a:tbl>
              <a:tblPr/>
              <a:tblGrid>
                <a:gridCol w="2061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097">
                  <a:extLst>
                    <a:ext uri="{9D8B030D-6E8A-4147-A177-3AD203B41FA5}">
                      <a16:colId xmlns:a16="http://schemas.microsoft.com/office/drawing/2014/main" val="1993009998"/>
                    </a:ext>
                  </a:extLst>
                </a:gridCol>
                <a:gridCol w="941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1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0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02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Med. Commercial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$2,010,200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1.731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1.704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6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Real Estate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34,555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34,395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34,214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34,033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33,852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    33,671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07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Change over FY25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$33,187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1,368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1,208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1,027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846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665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 dirty="0">
                          <a:effectLst/>
                          <a:latin typeface="Arial" panose="020B0604020202020204" pitchFamily="34" charset="0"/>
                        </a:rPr>
                        <a:t>        484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2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Increase in Tax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568" marR="99568" marT="49784" marB="4978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2.0%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C7566-2566-4D19-9810-953DE628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0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 Placeholder 4">
            <a:extLst>
              <a:ext uri="{FF2B5EF4-FFF2-40B4-BE49-F238E27FC236}">
                <a16:creationId xmlns:a16="http://schemas.microsoft.com/office/drawing/2014/main" id="{FDC4226B-7744-485D-886C-57366CAA82D0}"/>
              </a:ext>
            </a:extLst>
          </p:cNvPr>
          <p:cNvPicPr>
            <a:picLocks noGrp="1" noChangeAspect="1"/>
          </p:cNvPicPr>
          <p:nvPr>
            <p:ph type="tbl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100" y="1295400"/>
            <a:ext cx="9372599" cy="4572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5D6EB-4420-4809-B294-1BD3E99F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90321-4D47-4439-A16A-BE7569EA848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69E37-13D4-4757-BDB5-DB4318F4BEBF}"/>
              </a:ext>
            </a:extLst>
          </p:cNvPr>
          <p:cNvSpPr txBox="1"/>
          <p:nvPr/>
        </p:nvSpPr>
        <p:spPr>
          <a:xfrm>
            <a:off x="2921000" y="445253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Expanded Tax Rate Worksheet</a:t>
            </a:r>
          </a:p>
          <a:p>
            <a:r>
              <a:rPr lang="en-US" b="1" dirty="0"/>
              <a:t>21% Res. Exemption</a:t>
            </a:r>
          </a:p>
        </p:txBody>
      </p:sp>
    </p:spTree>
    <p:extLst>
      <p:ext uri="{BB962C8B-B14F-4D97-AF65-F5344CB8AC3E}">
        <p14:creationId xmlns:p14="http://schemas.microsoft.com/office/powerpoint/2010/main" val="2098053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E4070E-B655-4FD0-B5BB-628132976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268EFB-6C9C-4E2F-8C1B-145F50F788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61B88F-D791-4028-B967-D45B2D40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8E2E4A-15B3-47D2-ADFE-CD3657AF9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363" y="685801"/>
            <a:ext cx="4795556" cy="59849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84A16C-1455-4A7D-8FEF-A49831B65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7918" y="685801"/>
            <a:ext cx="4898881" cy="598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88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8FA15-BCC2-470C-8164-ACA4B7CD13DB}"/>
              </a:ext>
            </a:extLst>
          </p:cNvPr>
          <p:cNvSpPr/>
          <p:nvPr/>
        </p:nvSpPr>
        <p:spPr>
          <a:xfrm>
            <a:off x="482600" y="3010525"/>
            <a:ext cx="89916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30"/>
            <a:r>
              <a:rPr lang="en-US" sz="2200" b="1" dirty="0">
                <a:latin typeface="Arial" panose="020B0604020202020204" pitchFamily="34" charset="0"/>
              </a:rPr>
              <a:t>– END OF PRESENTATION – </a:t>
            </a:r>
          </a:p>
          <a:p>
            <a:pPr marR="730"/>
            <a:r>
              <a:rPr lang="en-US" sz="2200" b="1" dirty="0">
                <a:latin typeface="Arial" panose="020B0604020202020204" pitchFamily="34" charset="0"/>
              </a:rPr>
              <a:t>THE FOLLOWING WORKSHEET SHOWS THE IMPACT</a:t>
            </a:r>
          </a:p>
          <a:p>
            <a:pPr marR="790"/>
            <a:r>
              <a:rPr lang="en-US" sz="2200" b="1" dirty="0">
                <a:latin typeface="Arial" panose="020B0604020202020204" pitchFamily="34" charset="0"/>
              </a:rPr>
              <a:t>OF THE RESIDENTIAL EXEMPTION AT VARIOUS AMOUNTS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AC5AC-7DE0-4F15-8091-4D683717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797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018341-D47E-4B20-8CAF-5F9C1C8C1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800" y="190500"/>
            <a:ext cx="9677400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17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DBE20-85E3-4CA3-A8F5-18BBD8EF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F6FC0-809E-4CF0-B179-C67665C83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1" y="1600200"/>
            <a:ext cx="8529782" cy="434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DC88D2-0AC7-4351-BCEC-1B9C27330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201" y="1010509"/>
            <a:ext cx="8441366" cy="493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64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24F55-D554-46C9-8878-D7FA4152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ADBA42-72A9-4F4F-9E04-AA1253BE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" y="495300"/>
            <a:ext cx="946785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4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347D1-C2E6-423F-956F-C50F7E6B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30FB0-6F60-4988-9952-4417D32D9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93" y="463318"/>
            <a:ext cx="9756013" cy="654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47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27FB13-DCBA-4381-B5D7-AB35ECD7F61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81000"/>
            <a:ext cx="8229600" cy="914400"/>
          </a:xfrm>
          <a:prstGeom prst="rect">
            <a:avLst/>
          </a:prstGeom>
        </p:spPr>
        <p:txBody>
          <a:bodyPr rtlCol="0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79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5pPr>
            <a:lvl6pPr marL="497862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6pPr>
            <a:lvl7pPr marL="995723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7pPr>
            <a:lvl8pPr marL="1493587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8pPr>
            <a:lvl9pPr marL="1991448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itchFamily="18" charset="0"/>
                <a:ea typeface="+mj-ea"/>
                <a:cs typeface="+mj-cs"/>
              </a:rPr>
              <a:t>FY26 Value Share By Class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itchFamily="18" charset="0"/>
                <a:ea typeface="+mj-ea"/>
                <a:cs typeface="+mj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itchFamily="18" charset="0"/>
              <a:ea typeface="+mj-ea"/>
              <a:cs typeface="+mj-cs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9DB304-1927-4CD0-879A-F4E27ED2C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520433"/>
              </p:ext>
            </p:extLst>
          </p:nvPr>
        </p:nvGraphicFramePr>
        <p:xfrm>
          <a:off x="504825" y="990600"/>
          <a:ext cx="9451975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265978" imgH="5379591" progId="Excel.Chart.8">
                  <p:embed/>
                </p:oleObj>
              </mc:Choice>
              <mc:Fallback>
                <p:oleObj name="Chart" r:id="rId2" imgW="9265978" imgH="5379591" progId="Excel.Chart.8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29DB304-1927-4CD0-879A-F4E27ED2C7B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990600"/>
                        <a:ext cx="9451975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689DA-491B-408A-A7D4-7AF32E64F35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8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308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4D026-5834-44A9-A5CE-5AC044F4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A1B997-2725-4DCF-A93C-EBF55CC957B4}" type="slidenum">
              <a:rPr kumimoji="0" lang="en-US" sz="1308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308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973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27FB13-DCBA-4381-B5D7-AB35ECD7F61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81000"/>
            <a:ext cx="8229600" cy="914400"/>
          </a:xfrm>
          <a:prstGeom prst="rect">
            <a:avLst/>
          </a:prstGeom>
        </p:spPr>
        <p:txBody>
          <a:bodyPr rtlCol="0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79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5pPr>
            <a:lvl6pPr marL="497862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6pPr>
            <a:lvl7pPr marL="995723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7pPr>
            <a:lvl8pPr marL="1493587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8pPr>
            <a:lvl9pPr marL="1991448" algn="ctr" rtl="0" fontAlgn="base">
              <a:spcBef>
                <a:spcPct val="0"/>
              </a:spcBef>
              <a:spcAft>
                <a:spcPct val="0"/>
              </a:spcAft>
              <a:defRPr sz="4791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latin typeface="Century" pitchFamily="18" charset="0"/>
              </a:rPr>
              <a:t>FY25 Value Share By Class</a:t>
            </a:r>
            <a:br>
              <a:rPr lang="en-US" sz="3600" dirty="0">
                <a:latin typeface="Century" pitchFamily="18" charset="0"/>
              </a:rPr>
            </a:br>
            <a:endParaRPr lang="en-US" sz="2400" dirty="0">
              <a:latin typeface="Century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9DB304-1927-4CD0-879A-F4E27ED2C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973217"/>
              </p:ext>
            </p:extLst>
          </p:nvPr>
        </p:nvGraphicFramePr>
        <p:xfrm>
          <a:off x="508000" y="995363"/>
          <a:ext cx="8880475" cy="570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048599" imgH="5810263" progId="Excel.Chart.8">
                  <p:embed/>
                </p:oleObj>
              </mc:Choice>
              <mc:Fallback>
                <p:oleObj name="Chart" r:id="rId2" imgW="9048599" imgH="5810263" progId="Excel.Chart.8">
                  <p:embed/>
                  <p:pic>
                    <p:nvPicPr>
                      <p:cNvPr id="15363" name="Object 3">
                        <a:extLst>
                          <a:ext uri="{FF2B5EF4-FFF2-40B4-BE49-F238E27FC236}">
                            <a16:creationId xmlns:a16="http://schemas.microsoft.com/office/drawing/2014/main" id="{228B03CB-6009-44D5-81E5-DAE568251ED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995363"/>
                        <a:ext cx="8880475" cy="570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689DA-491B-408A-A7D4-7AF32E64F35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8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ctr" defTabSz="9839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4D026-5834-44A9-A5CE-5AC044F4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1B997-2725-4DCF-A93C-EBF55CC957B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73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23140</TotalTime>
  <Words>1837</Words>
  <Application>Microsoft Macintosh PowerPoint</Application>
  <PresentationFormat>Custom</PresentationFormat>
  <Paragraphs>771</Paragraphs>
  <Slides>32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Century</vt:lpstr>
      <vt:lpstr>Times New Roman</vt:lpstr>
      <vt:lpstr>Office Theme</vt:lpstr>
      <vt:lpstr>Chart</vt:lpstr>
      <vt:lpstr>Town of Brookline Select Board Fiscal Year 2026 Tax Classification Hearing November 4, 2025</vt:lpstr>
      <vt:lpstr>PowerPoint Presentation</vt:lpstr>
      <vt:lpstr>PowerPoint Presentation</vt:lpstr>
      <vt:lpstr> FY2025–FY2026 Value Comparison </vt:lpstr>
      <vt:lpstr>Average Value Change / Class</vt:lpstr>
      <vt:lpstr>FY2026 New Growth</vt:lpstr>
      <vt:lpstr>FY2026 Tax Levy</vt:lpstr>
      <vt:lpstr>Residential Exemption FY26?</vt:lpstr>
      <vt:lpstr>Residential Exemption Amounts At 20%</vt:lpstr>
      <vt:lpstr>Median Tax Change All Classes W/Res.Ex @20%</vt:lpstr>
      <vt:lpstr>Single Family&amp; Condo. w/Res.Ex.(20%)</vt:lpstr>
      <vt:lpstr>Two Fam. &amp; Three Fam. w/Res.Ex. (20%)</vt:lpstr>
      <vt:lpstr>Apartments &amp; Commercial</vt:lpstr>
      <vt:lpstr>PowerPoint Presentation</vt:lpstr>
      <vt:lpstr>Median Tax Change All Classes W/Res.Ex @19%</vt:lpstr>
      <vt:lpstr>Single Family&amp; Condo. w/Res.Ex.(19%)</vt:lpstr>
      <vt:lpstr>Two Fam. &amp; Three Fam. w/Res.Ex. (19%)</vt:lpstr>
      <vt:lpstr>Apartments &amp; Commercial</vt:lpstr>
      <vt:lpstr>PowerPoint Presentation</vt:lpstr>
      <vt:lpstr>Median Tax Change All Classes W/Res.Ex @21%</vt:lpstr>
      <vt:lpstr>Single Family&amp; Condo. w/Res.Ex.(21%)</vt:lpstr>
      <vt:lpstr>Two Fam. &amp; Three Fam. w/Res.Ex. (21%)</vt:lpstr>
      <vt:lpstr>Apartments &amp; Commercial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Town of Brookline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FY2023 Classification Hearing Presentation</dc:title>
  <dc:creator>Town of Brookline</dc:creator>
  <cp:lastModifiedBy>Rob Schoen</cp:lastModifiedBy>
  <cp:revision>1674</cp:revision>
  <cp:lastPrinted>2025-10-27T18:28:27Z</cp:lastPrinted>
  <dcterms:created xsi:type="dcterms:W3CDTF">2007-11-07T18:13:47Z</dcterms:created>
  <dcterms:modified xsi:type="dcterms:W3CDTF">2026-02-25T23:36:31Z</dcterms:modified>
</cp:coreProperties>
</file>